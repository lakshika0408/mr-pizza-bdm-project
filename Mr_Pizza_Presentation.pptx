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Monthly Revenue (₹) — Sep 2023 to Jan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Total Revenue by Day of Week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Top 6 Class A Items by Revenue (₹)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19-4C61-9B31-D1B241B12E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919-4C61-9B31-D1B241B12E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919-4C61-9B31-D1B241B12E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919-4C61-9B31-D1B241B12E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919-4C61-9B31-D1B241B12E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919-4C61-9B31-D1B241B12E3E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16,335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19-4C61-9B31-D1B241B12E3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Mix Veg Margharita</c:v>
                </c:pt>
                <c:pt idx="1">
                  <c:v>Kulhad Pizza</c:v>
                </c:pt>
                <c:pt idx="2">
                  <c:v>Cheese N Corn</c:v>
                </c:pt>
                <c:pt idx="3">
                  <c:v>Onion Cheese</c:v>
                </c:pt>
                <c:pt idx="4">
                  <c:v>Paneer Pizza</c:v>
                </c:pt>
                <c:pt idx="5">
                  <c:v>Tandoori Pizza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18010</c:v>
                </c:pt>
                <c:pt idx="1">
                  <c:v>16236</c:v>
                </c:pt>
                <c:pt idx="2">
                  <c:v>12570</c:v>
                </c:pt>
                <c:pt idx="3">
                  <c:v>9314</c:v>
                </c:pt>
                <c:pt idx="4">
                  <c:v>8804</c:v>
                </c:pt>
                <c:pt idx="5">
                  <c:v>8671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919-4C61-9B31-D1B241B12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777777777777776E-2"/>
          <c:y val="0.41218637992831542"/>
          <c:w val="9.5959595959595953E-2"/>
          <c:h val="0.126344086021505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03-42B3-8C45-7B0FF1DE0DFB}"/>
              </c:ext>
            </c:extLst>
          </c:dPt>
          <c:dPt>
            <c:idx val="1"/>
            <c:invertIfNegative val="0"/>
            <c:bubble3D val="0"/>
            <c:spPr>
              <a:solidFill>
                <a:srgbClr val="E07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3-42B3-8C45-7B0FF1DE0DFB}"/>
              </c:ext>
            </c:extLst>
          </c:dPt>
          <c:dPt>
            <c:idx val="2"/>
            <c:invertIfNegative val="0"/>
            <c:bubble3D val="0"/>
            <c:spPr>
              <a:solidFill>
                <a:srgbClr val="C04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03-42B3-8C45-7B0FF1DE0DFB}"/>
              </c:ext>
            </c:extLst>
          </c:dPt>
          <c:dPt>
            <c:idx val="3"/>
            <c:invertIfNegative val="0"/>
            <c:bubble3D val="0"/>
            <c:spPr>
              <a:solidFill>
                <a:srgbClr val="A03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03-42B3-8C45-7B0FF1DE0DFB}"/>
              </c:ext>
            </c:extLst>
          </c:dPt>
          <c:dPt>
            <c:idx val="4"/>
            <c:invertIfNegative val="0"/>
            <c:bubble3D val="0"/>
            <c:spPr>
              <a:solidFill>
                <a:srgbClr val="8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03-42B3-8C45-7B0FF1DE0DFB}"/>
              </c:ext>
            </c:extLst>
          </c:dPt>
          <c:dPt>
            <c:idx val="5"/>
            <c:invertIfNegative val="0"/>
            <c:bubble3D val="0"/>
            <c:spPr>
              <a:solidFill>
                <a:srgbClr val="6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03-42B3-8C45-7B0FF1DE0DFB}"/>
              </c:ext>
            </c:extLst>
          </c:dPt>
          <c:dPt>
            <c:idx val="6"/>
            <c:invertIfNegative val="0"/>
            <c:bubble3D val="0"/>
            <c:spPr>
              <a:solidFill>
                <a:srgbClr val="5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03-42B3-8C45-7B0FF1DE0DFB}"/>
              </c:ext>
            </c:extLst>
          </c:dPt>
          <c:dPt>
            <c:idx val="7"/>
            <c:invertIfNegative val="0"/>
            <c:bubble3D val="0"/>
            <c:spPr>
              <a:solidFill>
                <a:srgbClr val="401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03-42B3-8C45-7B0FF1DE0DFB}"/>
              </c:ext>
            </c:extLst>
          </c:dPt>
          <c:dPt>
            <c:idx val="8"/>
            <c:invertIfNegative val="0"/>
            <c:bubble3D val="0"/>
            <c:spPr>
              <a:solidFill>
                <a:srgbClr val="300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03-42B3-8C45-7B0FF1DE0D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Pizza</c:v>
                </c:pt>
                <c:pt idx="1">
                  <c:v>Burger</c:v>
                </c:pt>
                <c:pt idx="2">
                  <c:v>Shake</c:v>
                </c:pt>
                <c:pt idx="3">
                  <c:v>Dessert</c:v>
                </c:pt>
                <c:pt idx="4">
                  <c:v>Beverage</c:v>
                </c:pt>
                <c:pt idx="5">
                  <c:v>Combo</c:v>
                </c:pt>
                <c:pt idx="6">
                  <c:v>Bread</c:v>
                </c:pt>
                <c:pt idx="7">
                  <c:v>Hot Dog</c:v>
                </c:pt>
                <c:pt idx="8">
                  <c:v>Add-on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121956</c:v>
                </c:pt>
                <c:pt idx="1">
                  <c:v>11933</c:v>
                </c:pt>
                <c:pt idx="2">
                  <c:v>7880</c:v>
                </c:pt>
                <c:pt idx="3">
                  <c:v>3555</c:v>
                </c:pt>
                <c:pt idx="4">
                  <c:v>3380</c:v>
                </c:pt>
                <c:pt idx="5">
                  <c:v>2037</c:v>
                </c:pt>
                <c:pt idx="6">
                  <c:v>797</c:v>
                </c:pt>
                <c:pt idx="7">
                  <c:v>700</c:v>
                </c:pt>
                <c:pt idx="8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E03-42B3-8C45-7B0FF1DE0D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tmp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tmp"/></Relationships>
</file>

<file path=ppt/drawing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image" Target="../media/image5.tmp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4" name="Picture 3">
          <a:extLst xmlns:a="http://schemas.openxmlformats.org/drawingml/2006/main">
            <a:ext uri="{FF2B5EF4-FFF2-40B4-BE49-F238E27FC236}">
              <a16:creationId xmlns:a16="http://schemas.microsoft.com/office/drawing/2014/main" id="{85FE4640-D69A-1912-B209-432C184D13B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875529" cy="4320914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4" name="Picture 3">
          <a:extLst xmlns:a="http://schemas.openxmlformats.org/drawingml/2006/main">
            <a:ext uri="{FF2B5EF4-FFF2-40B4-BE49-F238E27FC236}">
              <a16:creationId xmlns:a16="http://schemas.microsoft.com/office/drawing/2014/main" id="{63847329-D79D-BFB0-2BF8-CA38FFEBC98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974598" cy="4198984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6" name="Picture 5">
          <a:extLst xmlns:a="http://schemas.openxmlformats.org/drawingml/2006/main">
            <a:ext uri="{FF2B5EF4-FFF2-40B4-BE49-F238E27FC236}">
              <a16:creationId xmlns:a16="http://schemas.microsoft.com/office/drawing/2014/main" id="{FC728750-4AE7-11A5-35C9-8F87962C8F8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110076" cy="4351397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8" name="Picture 7">
          <a:extLst xmlns:a="http://schemas.openxmlformats.org/drawingml/2006/main">
            <a:ext uri="{FF2B5EF4-FFF2-40B4-BE49-F238E27FC236}">
              <a16:creationId xmlns:a16="http://schemas.microsoft.com/office/drawing/2014/main" id="{1EB644C9-0091-38C2-B59F-0D912F64C0F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094835" cy="43895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74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22f3000223@ds.study.iitm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132320" y="64008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85146" y="662985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OPTIMIZING SALES FORECASTING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5400" y="1052451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39C12"/>
                </a:solidFill>
              </a:rPr>
              <a:t>&amp; INVENTORY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4900" y="1497771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</a:rPr>
              <a:t>for Mr. Pizza Shop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50906" y="1942428"/>
            <a:ext cx="5486400" cy="1371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653" y="1839807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Lakshika Dev  |  Roll No: 22F3000223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hlinkClick r:id="rId3"/>
              </a:rPr>
              <a:t>22f3000223@ds.study.iitm.ac.in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8160" y="470238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br>
              <a:rPr lang="en-US" sz="1200" i="1" dirty="0">
                <a:solidFill>
                  <a:srgbClr val="888888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IITM Online BS Degree Program, </a:t>
            </a: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Indian Institute of </a:t>
            </a:r>
            <a:r>
              <a:rPr lang="en-IN" sz="1050" dirty="0">
                <a:solidFill>
                  <a:schemeClr val="bg1"/>
                </a:solidFill>
              </a:rPr>
              <a:t>Technology, Madras, Chennai </a:t>
            </a:r>
          </a:p>
          <a:p>
            <a:pPr algn="ctr"/>
            <a:r>
              <a:rPr lang="en-IN" sz="1050" dirty="0">
                <a:solidFill>
                  <a:schemeClr val="bg1"/>
                </a:solidFill>
              </a:rPr>
              <a:t>Tamil Nadu, India, 600036</a:t>
            </a:r>
          </a:p>
          <a:p>
            <a:br>
              <a:rPr lang="en-IN" sz="1200" dirty="0"/>
            </a:b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793A12-2FB7-1F11-C2DC-2FC2DB7A2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353" y="2845647"/>
            <a:ext cx="1650999" cy="16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2E850F-B221-CE61-3022-7D60D9DDEBF2}"/>
              </a:ext>
            </a:extLst>
          </p:cNvPr>
          <p:cNvSpPr txBox="1"/>
          <p:nvPr/>
        </p:nvSpPr>
        <p:spPr>
          <a:xfrm>
            <a:off x="2284307" y="9034"/>
            <a:ext cx="4575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BDM Capstone Project </a:t>
            </a:r>
            <a:endParaRPr lang="en-IN" sz="3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3246120" cy="4160520"/>
          </a:xfrm>
          <a:prstGeom prst="roundRect">
            <a:avLst>
              <a:gd name="adj" fmla="val 5070"/>
            </a:avLst>
          </a:prstGeom>
          <a:solidFill>
            <a:srgbClr val="111111"/>
          </a:solidFill>
          <a:ln w="1905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859536"/>
            <a:ext cx="3172968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5674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Mr. Prakash Singh Danu  ·  Owner, Mr. Pizza  ·  Kathgodam, Uttarakhand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03320" y="822960"/>
            <a:ext cx="5166360" cy="1188720"/>
          </a:xfrm>
          <a:prstGeom prst="roundRect">
            <a:avLst>
              <a:gd name="adj" fmla="val 1153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58768" y="88696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Mr. Pizza </a:t>
            </a:r>
            <a:r>
              <a:rPr lang="en-US" sz="1150" dirty="0">
                <a:solidFill>
                  <a:srgbClr val="FFFFFF"/>
                </a:solidFill>
              </a:rPr>
              <a:t>is a single-operator B2C food outlet in Kathgodam, Uttarakhand (Est. 2023). Run entirely by Mr. Prakash Singh Danu. 54 menu items, 9 categories, walk-in + Zomato. Primary data: owner's handwritten sales notebook.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0" y="2125980"/>
            <a:ext cx="5166360" cy="1389888"/>
          </a:xfrm>
          <a:prstGeom prst="roundRect">
            <a:avLst>
              <a:gd name="adj" fmla="val 986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3858768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Three problems identified through owner interviews: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58768" y="2436876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F39C12"/>
                </a:solidFill>
              </a:rPr>
              <a:t>P1  </a:t>
            </a:r>
            <a:r>
              <a:rPr lang="en-US" sz="1100" dirty="0">
                <a:solidFill>
                  <a:srgbClr val="FFFFFF"/>
                </a:solidFill>
              </a:rPr>
              <a:t>Cannot forecast demand → wastage + stockouts
</a:t>
            </a:r>
            <a:r>
              <a:rPr lang="en-US" sz="1100" b="1" dirty="0">
                <a:solidFill>
                  <a:srgbClr val="F39C12"/>
                </a:solidFill>
              </a:rPr>
              <a:t>P2  </a:t>
            </a:r>
            <a:r>
              <a:rPr lang="en-US" sz="1100" dirty="0">
                <a:solidFill>
                  <a:srgbClr val="FFFFFF"/>
                </a:solidFill>
              </a:rPr>
              <a:t>No inventory system → 54 items managed by guesswork
</a:t>
            </a:r>
            <a:r>
              <a:rPr lang="en-US" sz="1100" b="1" dirty="0">
                <a:solidFill>
                  <a:srgbClr val="F39C12"/>
                </a:solidFill>
              </a:rPr>
              <a:t>P3  </a:t>
            </a:r>
            <a:r>
              <a:rPr lang="en-US" sz="1100" dirty="0">
                <a:solidFill>
                  <a:srgbClr val="FFFFFF"/>
                </a:solidFill>
              </a:rPr>
              <a:t>No pattern insight → Tuesday = only 36% of Sunday revenue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3630168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3630168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📈  P1 — 4-Week Moving Average (MA4) · Time series analysis of seasonal demand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3977640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3977640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📦  P2 — ABC Inventory Classification · Pareto-based 3-tier stocking priority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03320" y="4325112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22192" y="4325112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📅  P3 — Day-of-Week Pattern Analysis · Identify peak/trough days for promotions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🧾  Sales Transactions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997 line-item 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139 trading days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Sep 2023 – Jan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Source: Handwritten notebook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Fields: Date · Item · Size · Qty · 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C0392B">
              <a:alpha val="15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★  Primary data — collected in-person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Item Master / Lookup Sheet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1A52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5848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47 unique menu items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Canonical price list (VLOOKUP)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9 product categories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Size variants: S / M / 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Unit price range: ₹5 – ₹579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1A5276">
              <a:alpha val="15000"/>
            </a:srgbClr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5276"/>
                </a:solidFill>
              </a:rPr>
              <a:t>★  Feature: VLOOKUP auto-fill prices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Derived Feature Engineering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117A6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Day column: =TEXT(date,'dddd')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Line Total = Qty × Unit Price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Month column for aggregation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Week Number for MA4 series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0216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Daily Revenue cross-verification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117A65">
              <a:alpha val="15000"/>
            </a:srgbClr>
          </a:solidFill>
          <a:ln w="635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7A65"/>
                </a:solidFill>
              </a:rPr>
              <a:t>★  Cross-check: 0% discrepancy found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0050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 Cleaning Process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1. Manual digitization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01168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2. Name standardisation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('Thandoori'→'Tandoori')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7588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74904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1304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3. Outlier flagged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(₹7,425 catering day)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1324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040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4. Cross-verified vs.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owner's daily totals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5060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2376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8776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5. 0% discrepancy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confirmed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Sales Forecasting: MA4 Time Series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3703320" cy="1572768"/>
          </a:xfrm>
          <a:prstGeom prst="roundRect">
            <a:avLst>
              <a:gd name="adj" fmla="val 8721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4-Week Moving Average Formula: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MA4(t) = [R(t) + R(t−1) + R(t−2) + R(t−3)] ÷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Where R(t) = total revenue in week t.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MA4 smooths week-to-week noise and reveals the underlying seasonal trend. Computed in Google Sheets using AVERAGE() across a 4-cell rolling window.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628900"/>
            <a:ext cx="3703320" cy="1325880"/>
          </a:xfrm>
          <a:prstGeom prst="roundRect">
            <a:avLst>
              <a:gd name="adj" fmla="val 10345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Seasonal Adjustment Factors: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S(m) = [Actual(m) − MA4(m)] ÷ MA4(m) × 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B3B3"/>
                </a:solidFill>
              </a:rPr>
              <a:t>S(December) ≈ −7.3%  → reduce MA4 by 7%
</a:t>
            </a:r>
            <a:r>
              <a:rPr lang="en-US" sz="1100" dirty="0">
                <a:solidFill>
                  <a:srgbClr val="B3FFB3"/>
                </a:solidFill>
              </a:rPr>
              <a:t>S(January) ≈ -10.4%  → reduce MA4 by 10%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995928"/>
            <a:ext cx="3703320" cy="960120"/>
          </a:xfrm>
          <a:prstGeom prst="roundRect">
            <a:avLst>
              <a:gd name="adj" fmla="val 14286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5993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MA4, not ARIMA?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2511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DDDFF"/>
                </a:solidFill>
              </a:rPr>
              <a:t>Only 5 months (20 weekly points) — ARIMA needs 2+ years. MA4 is also computable by the owner in a notebook in &lt; 5 minutes, with zero software.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303637259"/>
              </p:ext>
            </p:extLst>
          </p:nvPr>
        </p:nvGraphicFramePr>
        <p:xfrm>
          <a:off x="4160520" y="868680"/>
          <a:ext cx="46634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4160520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26.1% decline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Sep → Dec (₹8,921 – 26% drop)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33288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79008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+36.1% Jan recovery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₹34,443 - highest month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06056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Procurement rule: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MA4 every Friday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60520" y="4407408"/>
            <a:ext cx="4663440" cy="594360"/>
          </a:xfrm>
          <a:prstGeom prst="roundRect">
            <a:avLst>
              <a:gd name="adj" fmla="val 15385"/>
            </a:avLst>
          </a:prstGeom>
          <a:solidFill>
            <a:srgbClr val="E8F8F5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44074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✅  Practical Rule: Every Friday, average last 4 weeks' revenue = next week's procurement target.  Apply –15% in Nov–Dec  |  +20% in January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P3 - Customer Patterns: Day-of-Week Revenue Analysis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629448380"/>
              </p:ext>
            </p:extLst>
          </p:nvPr>
        </p:nvGraphicFramePr>
        <p:xfrm>
          <a:off x="320040" y="841248"/>
          <a:ext cx="5074920" cy="294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804672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50992" y="8595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☀️  SUNDAY PEAK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50992" y="10607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₹36,799 - 24.1% of weekly revenue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50992" y="128930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WHY: Rest day in India → families dine out, Zomato spikes. 2.8× more than Tuesday. Stockout = ~₹1,840 lost.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32120" y="1737360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79222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📉  TUESDAY TROUGH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50992" y="199339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₹13,104 - 8.6% of weekly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50992" y="22219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WHY: Mid-week workday, no social trigger. Structural unused capacity. Fix: Tuesday Kulhad Pizza combo.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670048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72491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📊  WEEKEND PREMIUM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50992" y="29260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79% higher revenue/day vs weekdays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50992" y="315468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Sat+Sun = 41.7% of revenue from just 2 days. High asset AND high stockout risk concentration.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3602736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365760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❓  WEDNESDAY SURPRISE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50992" y="38587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₹20,729 - beats Thu &amp; Fri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50992" y="408736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local Kathgodam market day.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04535" y="4556490"/>
            <a:ext cx="854964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695" y="456667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7A4F00"/>
                </a:solidFill>
              </a:rPr>
              <a:t>📌  RECOMMENDATION: </a:t>
            </a:r>
            <a:r>
              <a:rPr lang="en-US" sz="1050" dirty="0">
                <a:solidFill>
                  <a:srgbClr val="7A4F00"/>
                </a:solidFill>
              </a:rPr>
              <a:t>Tuesday Combo - Kulhad Pizza + Cold Drink at ₹109 (~10% off combined ₹119). Promoted via handwritten sign.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4F00"/>
                </a:solidFill>
              </a:rPr>
              <a:t>Target: +20% Tuesday revenue within 8 weeks → ~₹520/month incremental revenue.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Inventory Management: ABC Classification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8549640" cy="530352"/>
          </a:xfrm>
          <a:prstGeom prst="roundRect">
            <a:avLst>
              <a:gd name="adj" fmla="val 25862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49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Formula:  Share(i) = R(i) ÷ R(total) × 100%   |   Cumulative Share(k) = Σ Share(i)   |   Class A ≤ 70%  ·  Class B: 70–90%  ·  Class C: &gt; 90%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28420"/>
              </p:ext>
            </p:extLst>
          </p:nvPr>
        </p:nvGraphicFramePr>
        <p:xfrm>
          <a:off x="320040" y="1417320"/>
          <a:ext cx="7635240" cy="190195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Stocking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Veg Margharita · Kulhad Pizza · Cheese N Corn · Onion Cheese · Paneer Pizza · Tandoori Pizza + 6 more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₹1,05,854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in stock; 2-day buffer on 7 core ingredients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 Burger · Spicy Mix Veg Pizza · Overloaded Cheese Pizza · Veg Cheese Burger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₹31,044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review; reorder at 1-day 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Dog · Bread · Add-ons · Desserts · Beverages · remaining 32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₹16,079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on demand ONLY, stop pre-stocking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7180" y="3346386"/>
            <a:ext cx="8549640" cy="438912"/>
          </a:xfrm>
          <a:prstGeom prst="roundRect">
            <a:avLst>
              <a:gd name="adj" fmla="val 20833"/>
            </a:avLst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331470" y="3345691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</a:rPr>
              <a:t>🔑  7 shared core ingredients cover ALL Class A items:  Cheese  ·  Pizza Base  ·  Tomato Sauce  ·  Capsicum  ·  Corn  ·  Onion  ·  Paneer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88620" y="389737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₹1,05,854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004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Class A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protected from stockout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4690" y="3922776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69.2%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20040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Revenue from 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12 pizza items only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895981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608076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26 items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08076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Class C - stop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pre-stocking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Analysis: Top Revenue Items &amp; ABC-XYZ Extension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052030091"/>
              </p:ext>
            </p:extLst>
          </p:nvPr>
        </p:nvGraphicFramePr>
        <p:xfrm>
          <a:off x="320040" y="822960"/>
          <a:ext cx="50292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352738" y="4134941"/>
            <a:ext cx="8549640" cy="841248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110402"/>
            <a:ext cx="8275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4F00"/>
                </a:solidFill>
              </a:rPr>
              <a:t>📌  Top 2 items (Mix Veg Margharita + Kulhad Pizza) = ₹34,345 = 22.5% of total revenue from just 2 of 54 items.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4F00"/>
                </a:solidFill>
              </a:rPr>
              <a:t>     Kulhad Pizza = 165 units (highest volume) at ₹99 , the entry-point product anchoring repeat visits. Never let this stock out.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54980" y="644825"/>
            <a:ext cx="3347398" cy="3490115"/>
          </a:xfrm>
          <a:prstGeom prst="roundRect">
            <a:avLst>
              <a:gd name="adj" fmla="val 434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5673852" y="64482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/>
              <a:t>Why ABC-XYZ Would Be Better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42432" y="1463388"/>
            <a:ext cx="2857558" cy="207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39C12"/>
                </a:solidFill>
              </a:rPr>
              <a:t>ABC</a:t>
            </a:r>
            <a:r>
              <a:rPr lang="en-US" sz="1000" dirty="0">
                <a:solidFill>
                  <a:srgbClr val="DDDDFF"/>
                </a:solidFill>
              </a:rPr>
              <a:t> classifies by </a:t>
            </a:r>
            <a:r>
              <a:rPr lang="en-US" sz="1000" b="1" dirty="0">
                <a:solidFill>
                  <a:srgbClr val="FFFFFF"/>
                </a:solidFill>
              </a:rPr>
              <a:t>revenue value</a:t>
            </a:r>
            <a:r>
              <a:rPr lang="en-US" sz="1000" dirty="0">
                <a:solidFill>
                  <a:srgbClr val="DDDDFF"/>
                </a:solidFill>
              </a:rPr>
              <a:t> only.
</a:t>
            </a:r>
            <a:r>
              <a:rPr lang="en-US" sz="1000" b="1" dirty="0">
                <a:solidFill>
                  <a:srgbClr val="F39C12"/>
                </a:solidFill>
              </a:rPr>
              <a:t>XYZ</a:t>
            </a:r>
            <a:r>
              <a:rPr lang="en-US" sz="1000" dirty="0">
                <a:solidFill>
                  <a:srgbClr val="DDDDFF"/>
                </a:solidFill>
              </a:rPr>
              <a:t> adds </a:t>
            </a:r>
            <a:r>
              <a:rPr lang="en-US" sz="1000" b="1" dirty="0">
                <a:solidFill>
                  <a:srgbClr val="FFFFFF"/>
                </a:solidFill>
              </a:rPr>
              <a:t>demand variability</a:t>
            </a:r>
            <a:r>
              <a:rPr lang="en-US" sz="1000" dirty="0">
                <a:solidFill>
                  <a:srgbClr val="DDDDFF"/>
                </a:solidFill>
              </a:rPr>
              <a:t> (via CV):
</a:t>
            </a:r>
            <a:r>
              <a:rPr lang="en-US" sz="1000" b="1" dirty="0">
                <a:solidFill>
                  <a:srgbClr val="90EE90"/>
                </a:solidFill>
              </a:rPr>
              <a:t>X</a:t>
            </a:r>
            <a:r>
              <a:rPr lang="en-US" sz="1000" dirty="0">
                <a:solidFill>
                  <a:srgbClr val="DDDDFF"/>
                </a:solidFill>
              </a:rPr>
              <a:t> = Stable demand (CV &lt; 10%)
</a:t>
            </a:r>
            <a:r>
              <a:rPr lang="en-US" sz="1000" b="1" dirty="0">
                <a:solidFill>
                  <a:srgbClr val="FFD700"/>
                </a:solidFill>
              </a:rPr>
              <a:t>Y</a:t>
            </a:r>
            <a:r>
              <a:rPr lang="en-US" sz="1000" dirty="0">
                <a:solidFill>
                  <a:srgbClr val="DDDDFF"/>
                </a:solidFill>
              </a:rPr>
              <a:t> = Variable demand (CV 10–25%)
</a:t>
            </a:r>
            <a:r>
              <a:rPr lang="en-US" sz="1000" b="1" dirty="0">
                <a:solidFill>
                  <a:srgbClr val="FF6B6B"/>
                </a:solidFill>
              </a:rPr>
              <a:t>Z</a:t>
            </a:r>
            <a:r>
              <a:rPr lang="en-US" sz="1000" dirty="0">
                <a:solidFill>
                  <a:srgbClr val="DDDDFF"/>
                </a:solidFill>
              </a:rPr>
              <a:t> = Erratic demand (CV &gt; 25%)
</a:t>
            </a:r>
            <a:r>
              <a:rPr lang="en-US" sz="1000" b="1" dirty="0">
                <a:solidFill>
                  <a:srgbClr val="FF6B6B"/>
                </a:solidFill>
              </a:rPr>
              <a:t>A-Z item</a:t>
            </a:r>
            <a:r>
              <a:rPr lang="en-US" sz="1000" dirty="0">
                <a:solidFill>
                  <a:srgbClr val="DDDDFF"/>
                </a:solidFill>
              </a:rPr>
              <a:t> = high revenue + unpredictable
→ needs a large safety stock buffer
</a:t>
            </a:r>
            <a:r>
              <a:rPr lang="en-US" sz="1000" b="1" dirty="0">
                <a:solidFill>
                  <a:srgbClr val="F39C12"/>
                </a:solidFill>
              </a:rPr>
              <a:t>Why not done: </a:t>
            </a:r>
            <a:r>
              <a:rPr lang="en-US" sz="1000" dirty="0">
                <a:solidFill>
                  <a:srgbClr val="DDDDFF"/>
                </a:solidFill>
              </a:rPr>
              <a:t>Only 5 months → too few data points per item for reliable CV.
</a:t>
            </a:r>
            <a:r>
              <a:rPr lang="en-US" sz="1000" b="1" dirty="0">
                <a:solidFill>
                  <a:srgbClr val="90EE90"/>
                </a:solidFill>
              </a:rPr>
              <a:t>First enhancement </a:t>
            </a:r>
            <a:r>
              <a:rPr lang="en-US" sz="1000" dirty="0">
                <a:solidFill>
                  <a:srgbClr val="DDDDFF"/>
                </a:solidFill>
              </a:rPr>
              <a:t>with 12+ months: ABC-XYZ + Holt-Winters forecasting.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Analysis: Category Breakdown &amp; Key Descriptives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52137674"/>
              </p:ext>
            </p:extLst>
          </p:nvPr>
        </p:nvGraphicFramePr>
        <p:xfrm>
          <a:off x="320040" y="82296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440680" y="822960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40680" y="914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79.7%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40680" y="14264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Pizza's share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822960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914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₹1,100.55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0" y="14264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Mean daily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2121408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22128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₹923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4068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Median daily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2121408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22128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₹853.56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Std deviation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(high variability!)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3511296"/>
            <a:ext cx="3429000" cy="1152144"/>
          </a:xfrm>
          <a:prstGeom prst="roundRect">
            <a:avLst>
              <a:gd name="adj" fmla="val 11905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35112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Distribution Shape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77840" y="3776472"/>
            <a:ext cx="3163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Mean (₹1,100.55) &gt; Median (₹923) → right-skewed distribution. Caused by catering event outliers (max ₹7,425). SD = 78% of mean → extreme day-to-day variability. This justifies using MA4 smoothing over a flat average for procurement decisions.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749040"/>
            <a:ext cx="5029200" cy="1170432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49040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ℹ️  Revenue alone overstates low-volume, high-price items.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Volume leaders: Kulhad Pizza (165 units) · Mix Veg Margharita (140 units) · Cheese N Corn (130 units).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Price range: ₹5 (Bun) → ₹579 (large family pizza). Both revenue AND volume should drive stocking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— Mapped to P1 · P2 · P3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777240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71716" y="790956"/>
            <a:ext cx="1188720" cy="1289304"/>
          </a:xfrm>
          <a:prstGeom prst="roundRect">
            <a:avLst>
              <a:gd name="adj" fmla="val 88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5996" y="145667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📈  Forecasting Fix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9326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Every Friday: MA4 = avg of last 4 weeks' revenue → next week's procurement target (&lt; 5 min, no software)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13167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Seasonal adjustments: Oct -4.5% · Nov +2.7% · Dec -7.3% · Jan -10.4%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170078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Expected: Reduce winter wastage by ₹3,000–5,000/month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44905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251" y="2169965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04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7671" y="29077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📦  Inventory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26411" y="2289935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Class A (12 items): Always in stock with 2-day buffer on 7 core ingredients (Cheese, Base, Sauce, Capsicum, Corn, Onion, Paneer)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2664839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Class C (26 items): Stop pre-stocking immediately - order only when customer requests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26411" y="304605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Expected: Zero Class A stockouts · Protect ₹1,05,854 revenue per 5-month period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53487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996" y="353983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22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5996" y="426671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🎯  Retention Fix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364845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Tuesday Combo: Kulhad Pizza + Cold Drink at ₹109 (~10% off) — handwritten sign at entrance within 1 month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08760" y="399945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Kulhad Pizza (165 units, highest volume) available 7 days/week without exception — retention anchor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4373263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Begin WhatsApp contact collection; build 100+ list in 3 months · Expected: +₹520/month from Tuesday alone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681728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877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  5-month data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" y="115214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Cannot do full seasonal decomposition or ARIMA (needs 2+ years). Seasonal factors derived from just 1 cycle.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0467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82896" y="877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⚠  No customer identification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2896" y="115214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Anonymous walk-ins → CLV, repeat visit rate, cohort retention all uncomputable. POS system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810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⚠  Incomplete purchase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08483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Only cheese, milk, toppings billed. No wheat/flour data → COGS and gross margin per item unavailable.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810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⚠  ABC without XYZ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208483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Demand variability not measured. With 12+ months, CV analysis would enable ABC-XYZ and proper safety stock sizing.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2743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" y="30175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8549640" cy="475488"/>
          </a:xfrm>
          <a:prstGeom prst="roundRect">
            <a:avLst>
              <a:gd name="adj" fmla="val 28846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" y="3017520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Future Scope: ABC-XYZ with 12+ months  ·  Holt-Winters / seasonal ARIMA  ·  Free POS app (Vyapar / OkCredit)  ·  WhatsApp CRM  ·  Full COGS &amp; profit-based ABC classification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338828"/>
            <a:ext cx="9144000" cy="9372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51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79.7%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Pizza alone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96312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41.7%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496312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weekend 2 days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2584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22.5%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72584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top 2 items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8856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~₹21K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48856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Estimated 5-month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impact of recs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1747</Words>
  <Application>Microsoft Office PowerPoint</Application>
  <PresentationFormat>On-screen Show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Sales Forecasting and Inventory Management for Mr. Pizza Shop</dc:title>
  <dc:subject>PptxGenJS Presentation</dc:subject>
  <dc:creator>Lakshika Dev</dc:creator>
  <cp:lastModifiedBy>parth dev</cp:lastModifiedBy>
  <cp:revision>3</cp:revision>
  <dcterms:created xsi:type="dcterms:W3CDTF">2026-05-18T05:02:06Z</dcterms:created>
  <dcterms:modified xsi:type="dcterms:W3CDTF">2026-06-13T08:45:26Z</dcterms:modified>
</cp:coreProperties>
</file>